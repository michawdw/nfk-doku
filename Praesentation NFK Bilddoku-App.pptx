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F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554480"/>
            <a:ext cx="6766560" cy="38404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1" i="0">
                <a:solidFill>
                  <a:srgbClr val="CFE0F0"/>
                </a:solidFill>
                <a:latin typeface="Calibri"/>
              </a:rPr>
              <a:t>NFK VOLLVERKABELUNG · DOKUMENTATION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sz="4000" b="1" i="0">
                <a:solidFill>
                  <a:srgbClr val="FFFFFF"/>
                </a:solidFill>
                <a:latin typeface="Cambria"/>
              </a:rPr>
              <a:t>Die komplette Doku –
direkt vom Handy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400"/>
              </a:spcAft>
            </a:pPr>
            <a:r>
              <a:rPr sz="1800" b="0" i="0">
                <a:solidFill>
                  <a:srgbClr val="CFE0F0"/>
                </a:solidFill>
                <a:latin typeface="Calibri"/>
              </a:rPr>
              <a:t>Bilddokumentation und Bautagebuch als App. Kein Laptop mehr nötig – außer für die LAN-Messung.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E6BA8"/>
                </a:solidFill>
                <a:latin typeface="Calibri"/>
              </a:rPr>
              <a:t>Vorstellung für die Geschäftsführung · Juni 2026</a:t>
            </a:r>
          </a:p>
        </p:txBody>
      </p:sp>
      <p:pic>
        <p:nvPicPr>
          <p:cNvPr id="3" name="Picture 2" descr="bilddok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960120"/>
            <a:ext cx="2926080" cy="47125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188720"/>
            <a:ext cx="6858000" cy="45720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600"/>
              </a:spcAft>
            </a:pPr>
            <a:r>
              <a:rPr sz="3400" b="1" i="0">
                <a:solidFill>
                  <a:srgbClr val="FFFFFF"/>
                </a:solidFill>
                <a:latin typeface="Cambria"/>
              </a:rPr>
              <a:t>Außer für die LAN-Messung braucht niemand mehr einen Laptop.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CFE0F0"/>
                </a:solidFill>
                <a:latin typeface="Calibri"/>
              </a:rPr>
              <a:t>Jeder Mitarbeiter erstellt mit dem Handy eine komplette Dokumentation einer NFK-Vollverkabelung – Bilder und Bautagebuch, jeden Tag, direkt vor Ort.</a:t>
            </a:r>
          </a:p>
        </p:txBody>
      </p:sp>
      <p:pic>
        <p:nvPicPr>
          <p:cNvPr id="3" name="Picture 2" descr="st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1234440"/>
            <a:ext cx="2788920" cy="331734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F4E78"/>
                </a:solidFill>
                <a:latin typeface="Cambria"/>
              </a:rPr>
              <a:t>Was sich ändert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417320"/>
            <a:ext cx="5138928" cy="4663440"/>
          </a:xfrm>
          <a:prstGeom prst="roundRect">
            <a:avLst>
              <a:gd name="adj" fmla="val 6000"/>
            </a:avLst>
          </a:prstGeom>
          <a:solidFill>
            <a:srgbClr val="FBEA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0" y="1417320"/>
            <a:ext cx="5138928" cy="4663440"/>
          </a:xfrm>
          <a:prstGeom prst="roundRect">
            <a:avLst>
              <a:gd name="adj" fmla="val 6000"/>
            </a:avLst>
          </a:prstGeom>
          <a:solidFill>
            <a:srgbClr val="E7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73352"/>
            <a:ext cx="4636008" cy="42062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900" b="1" i="0">
                <a:solidFill>
                  <a:srgbClr val="B0392B"/>
                </a:solidFill>
                <a:latin typeface="Cambria"/>
              </a:rPr>
              <a:t>Bisher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2E6BA8"/>
                </a:solidFill>
                <a:latin typeface="Calibri"/>
              </a:rPr>
              <a:t>•  </a:t>
            </a:r>
            <a:r>
              <a:rPr sz="1500">
                <a:solidFill>
                  <a:srgbClr val="1A2230"/>
                </a:solidFill>
                <a:latin typeface="Calibri"/>
              </a:rPr>
              <a:t>Laptop muss mit auf die Baustelle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2E6BA8"/>
                </a:solidFill>
                <a:latin typeface="Calibri"/>
              </a:rPr>
              <a:t>•  </a:t>
            </a:r>
            <a:r>
              <a:rPr sz="1500">
                <a:solidFill>
                  <a:srgbClr val="1A2230"/>
                </a:solidFill>
                <a:latin typeface="Calibri"/>
              </a:rPr>
              <a:t>Bilder erst abends am PC sortieren und benennen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2E6BA8"/>
                </a:solidFill>
                <a:latin typeface="Calibri"/>
              </a:rPr>
              <a:t>•  </a:t>
            </a:r>
            <a:r>
              <a:rPr sz="1500">
                <a:solidFill>
                  <a:srgbClr val="1A2230"/>
                </a:solidFill>
                <a:latin typeface="Calibri"/>
              </a:rPr>
              <a:t>Bautagebuch später nachtragen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2E6BA8"/>
                </a:solidFill>
                <a:latin typeface="Calibri"/>
              </a:rPr>
              <a:t>•  </a:t>
            </a:r>
            <a:r>
              <a:rPr sz="1500">
                <a:solidFill>
                  <a:srgbClr val="1A2230"/>
                </a:solidFill>
                <a:latin typeface="Calibri"/>
              </a:rPr>
              <a:t>Daten erst im Büro verfügbar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1673352"/>
            <a:ext cx="4636008" cy="42062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900" b="1" i="0">
                <a:solidFill>
                  <a:srgbClr val="1F8A4C"/>
                </a:solidFill>
                <a:latin typeface="Cambria"/>
              </a:rPr>
              <a:t>Mit der App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2E6BA8"/>
                </a:solidFill>
                <a:latin typeface="Calibri"/>
              </a:rPr>
              <a:t>•  </a:t>
            </a:r>
            <a:r>
              <a:rPr sz="1500">
                <a:solidFill>
                  <a:srgbClr val="1A2230"/>
                </a:solidFill>
                <a:latin typeface="Calibri"/>
              </a:rPr>
              <a:t>Alles am Handy – direkt vor Ort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2E6BA8"/>
                </a:solidFill>
                <a:latin typeface="Calibri"/>
              </a:rPr>
              <a:t>•  </a:t>
            </a:r>
            <a:r>
              <a:rPr sz="1500">
                <a:solidFill>
                  <a:srgbClr val="1A2230"/>
                </a:solidFill>
                <a:latin typeface="Calibri"/>
              </a:rPr>
              <a:t>Foto sofort an der richtigen Position abgelegt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2E6BA8"/>
                </a:solidFill>
                <a:latin typeface="Calibri"/>
              </a:rPr>
              <a:t>•  </a:t>
            </a:r>
            <a:r>
              <a:rPr sz="1500">
                <a:solidFill>
                  <a:srgbClr val="1A2230"/>
                </a:solidFill>
                <a:latin typeface="Calibri"/>
              </a:rPr>
              <a:t>Bautagebuch am selben Tag fertig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2E6BA8"/>
                </a:solidFill>
                <a:latin typeface="Calibri"/>
              </a:rPr>
              <a:t>•  </a:t>
            </a:r>
            <a:r>
              <a:rPr sz="1500">
                <a:solidFill>
                  <a:srgbClr val="1A2230"/>
                </a:solidFill>
                <a:latin typeface="Calibri"/>
              </a:rPr>
              <a:t>Fertige Datei (ZIP / Excel) sofort teilbar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F4E78"/>
                </a:solidFill>
                <a:latin typeface="Cambria"/>
              </a:rPr>
              <a:t>Eine App – zwei Aufgaben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508760"/>
            <a:ext cx="5138928" cy="3657600"/>
          </a:xfrm>
          <a:prstGeom prst="roundRect">
            <a:avLst>
              <a:gd name="adj" fmla="val 6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0" y="1508760"/>
            <a:ext cx="5138928" cy="3657600"/>
          </a:xfrm>
          <a:prstGeom prst="roundRect">
            <a:avLst>
              <a:gd name="adj" fmla="val 6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" y="1828800"/>
            <a:ext cx="640080" cy="640080"/>
          </a:xfrm>
          <a:prstGeom prst="ellipse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697480"/>
            <a:ext cx="4572000" cy="22860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1F4E78"/>
                </a:solidFill>
                <a:latin typeface="Cambria"/>
              </a:rPr>
              <a:t>Bilddokumentation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A2230"/>
                </a:solidFill>
                <a:latin typeface="Calibri"/>
              </a:rPr>
              <a:t>Fotos Position für Position nach einer Vorlage aufnehmen – am Ende eine saubere, benannte ZIP-Datei fürs Büro.</a:t>
            </a:r>
          </a:p>
        </p:txBody>
      </p:sp>
      <p:sp>
        <p:nvSpPr>
          <p:cNvPr id="7" name="Oval 6"/>
          <p:cNvSpPr/>
          <p:nvPr/>
        </p:nvSpPr>
        <p:spPr>
          <a:xfrm>
            <a:off x="6720840" y="1828800"/>
            <a:ext cx="640080" cy="640080"/>
          </a:xfrm>
          <a:prstGeom prst="ellipse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2697480"/>
            <a:ext cx="4572000" cy="22860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1F4E78"/>
                </a:solidFill>
                <a:latin typeface="Cambria"/>
              </a:rPr>
              <a:t>Bautagebuch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A2230"/>
                </a:solidFill>
                <a:latin typeface="Calibri"/>
              </a:rPr>
              <a:t>Arbeitszeiten und Tätigkeiten je Tag erfassen – Export als Excel im gewohnten Layout (1:1 wie die Papiervorlage).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440680"/>
            <a:ext cx="10789920" cy="8229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5C6773"/>
                </a:solidFill>
                <a:latin typeface="Calibri"/>
              </a:rPr>
              <a:t>Offline nach der Installation · keine Anmeldung · läuft auf jedem Android-Handy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F4E78"/>
                </a:solidFill>
                <a:latin typeface="Cambria"/>
              </a:rPr>
              <a:t>Bilddokumentation</a:t>
            </a:r>
          </a:p>
        </p:txBody>
      </p:sp>
      <p:pic>
        <p:nvPicPr>
          <p:cNvPr id="3" name="Picture 2" descr="bilddok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2743200" cy="4417995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3931920" y="1417320"/>
            <a:ext cx="420624" cy="420624"/>
          </a:xfrm>
          <a:prstGeom prst="ellipse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98848" y="1344168"/>
            <a:ext cx="7114032" cy="10972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1F4E78"/>
                </a:solidFill>
                <a:latin typeface="Calibri"/>
              </a:rPr>
              <a:t>Vorlage gibt die Pflichtbilder vor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773"/>
                </a:solidFill>
                <a:latin typeface="Calibri"/>
              </a:rPr>
              <a:t>Pro Filiale die passende Vorlage wählen – die App weiß, was zu fotografieren ist.</a:t>
            </a:r>
          </a:p>
        </p:txBody>
      </p:sp>
      <p:sp>
        <p:nvSpPr>
          <p:cNvPr id="6" name="Oval 5"/>
          <p:cNvSpPr/>
          <p:nvPr/>
        </p:nvSpPr>
        <p:spPr>
          <a:xfrm>
            <a:off x="3931920" y="2377440"/>
            <a:ext cx="420624" cy="420624"/>
          </a:xfrm>
          <a:prstGeom prst="ellipse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98848" y="2304288"/>
            <a:ext cx="7114032" cy="10972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1F4E78"/>
                </a:solidFill>
                <a:latin typeface="Calibri"/>
              </a:rPr>
              <a:t>Foto oder Galerie je Position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773"/>
                </a:solidFill>
                <a:latin typeface="Calibri"/>
              </a:rPr>
              <a:t>Direkt aufnehmen oder vorhandenes Bild wählen – automatisch verkleinert und benannt.</a:t>
            </a:r>
          </a:p>
        </p:txBody>
      </p:sp>
      <p:sp>
        <p:nvSpPr>
          <p:cNvPr id="8" name="Oval 7"/>
          <p:cNvSpPr/>
          <p:nvPr/>
        </p:nvSpPr>
        <p:spPr>
          <a:xfrm>
            <a:off x="3931920" y="3337560"/>
            <a:ext cx="420624" cy="420624"/>
          </a:xfrm>
          <a:prstGeom prst="ellipse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8848" y="3264408"/>
            <a:ext cx="7114032" cy="10972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1F4E78"/>
                </a:solidFill>
                <a:latin typeface="Calibri"/>
              </a:rPr>
              <a:t>Grüner Haken zeigt den Fortschritt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773"/>
                </a:solidFill>
                <a:latin typeface="Calibri"/>
              </a:rPr>
              <a:t>Auf einen Blick sehen, was erledigt und was noch offen ist.</a:t>
            </a:r>
          </a:p>
        </p:txBody>
      </p:sp>
      <p:sp>
        <p:nvSpPr>
          <p:cNvPr id="10" name="Oval 9"/>
          <p:cNvSpPr/>
          <p:nvPr/>
        </p:nvSpPr>
        <p:spPr>
          <a:xfrm>
            <a:off x="3931920" y="4297680"/>
            <a:ext cx="420624" cy="420624"/>
          </a:xfrm>
          <a:prstGeom prst="ellipse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8848" y="4224528"/>
            <a:ext cx="7114032" cy="10972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1F4E78"/>
                </a:solidFill>
                <a:latin typeface="Calibri"/>
              </a:rPr>
              <a:t>„Nicht benötigt“ blendet Überflüssiges aus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773"/>
                </a:solidFill>
                <a:latin typeface="Calibri"/>
              </a:rPr>
              <a:t>Nicht gebrauchte Positionen einfach abwählen – sie zählen nicht mehr als Pflicht.</a:t>
            </a:r>
          </a:p>
        </p:txBody>
      </p:sp>
      <p:sp>
        <p:nvSpPr>
          <p:cNvPr id="12" name="Oval 11"/>
          <p:cNvSpPr/>
          <p:nvPr/>
        </p:nvSpPr>
        <p:spPr>
          <a:xfrm>
            <a:off x="3931920" y="5257800"/>
            <a:ext cx="420624" cy="420624"/>
          </a:xfrm>
          <a:prstGeom prst="ellipse">
            <a:avLst/>
          </a:prstGeom>
          <a:solidFill>
            <a:srgbClr val="1F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8848" y="5184648"/>
            <a:ext cx="7114032" cy="10972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1F4E78"/>
                </a:solidFill>
                <a:latin typeface="Calibri"/>
              </a:rPr>
              <a:t>Ergebnis: eine ZIP fürs Büro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773"/>
                </a:solidFill>
                <a:latin typeface="Calibri"/>
              </a:rPr>
              <a:t>Sauber sortiert und benannt – per WhatsApp, Mail oder Drive teilbar.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F4E78"/>
                </a:solidFill>
                <a:latin typeface="Cambria"/>
              </a:rPr>
              <a:t>Bautagebuch – in 2 Minuten pro Tag</a:t>
            </a:r>
          </a:p>
        </p:txBody>
      </p:sp>
      <p:sp>
        <p:nvSpPr>
          <p:cNvPr id="3" name="Oval 2"/>
          <p:cNvSpPr/>
          <p:nvPr/>
        </p:nvSpPr>
        <p:spPr>
          <a:xfrm>
            <a:off x="731520" y="1554480"/>
            <a:ext cx="420624" cy="420624"/>
          </a:xfrm>
          <a:prstGeom prst="ellipse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8448" y="1481328"/>
            <a:ext cx="5193792" cy="10972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1F4E78"/>
                </a:solidFill>
                <a:latin typeface="Calibri"/>
              </a:rPr>
              <a:t>Schnell erfasst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773"/>
                </a:solidFill>
                <a:latin typeface="Calibri"/>
              </a:rPr>
              <a:t>Arbeitszeiten für bis zu 5 Techniker, Tätigkeiten, Behinderungen, Vorkommnisse.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2697480"/>
            <a:ext cx="420624" cy="420624"/>
          </a:xfrm>
          <a:prstGeom prst="ellipse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2624328"/>
            <a:ext cx="5193792" cy="10972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1F4E78"/>
                </a:solidFill>
                <a:latin typeface="Calibri"/>
              </a:rPr>
              <a:t>Excel auf Knopfdruck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773"/>
                </a:solidFill>
                <a:latin typeface="Calibri"/>
              </a:rPr>
              <a:t>Export als .xlsx – Layout 1:1 wie die gewohnte Papiervorlage, inkl. Logo.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3840480"/>
            <a:ext cx="420624" cy="420624"/>
          </a:xfrm>
          <a:prstGeom prst="ellipse">
            <a:avLst/>
          </a:prstGeom>
          <a:solidFill>
            <a:srgbClr val="1F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3767328"/>
            <a:ext cx="5193792" cy="10972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1F4E78"/>
                </a:solidFill>
                <a:latin typeface="Calibri"/>
              </a:rPr>
              <a:t>Archiv je Auftrag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773"/>
                </a:solidFill>
                <a:latin typeface="Calibri"/>
              </a:rPr>
              <a:t>Alle Tage gespeichert und jederzeit nachträglich bearbeitbar.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0" y="1554480"/>
            <a:ext cx="4572000" cy="4114800"/>
          </a:xfrm>
          <a:prstGeom prst="roundRect">
            <a:avLst>
              <a:gd name="adj" fmla="val 6000"/>
            </a:avLst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0" y="1554480"/>
            <a:ext cx="4023360" cy="41148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3000" b="1" i="0">
                <a:solidFill>
                  <a:srgbClr val="FFFFFF"/>
                </a:solidFill>
                <a:latin typeface="Cambria"/>
              </a:rPr>
              <a:t>📋  →  .xlsx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CFE0F0"/>
                </a:solidFill>
                <a:latin typeface="Calibri"/>
              </a:rPr>
              <a:t>Jeden Abend ein fertiges Bautagebuch –
ohne PC, ohne Nachtragen.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F4E78"/>
                </a:solidFill>
                <a:latin typeface="Cambria"/>
              </a:rPr>
              <a:t>Mehrere Mitarbeiter, eine Doku</a:t>
            </a:r>
          </a:p>
        </p:txBody>
      </p:sp>
      <p:pic>
        <p:nvPicPr>
          <p:cNvPr id="3" name="Picture 2" descr="ueberga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600200"/>
            <a:ext cx="4663440" cy="368166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554480"/>
            <a:ext cx="5852160" cy="43891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F4E78"/>
                </a:solidFill>
                <a:latin typeface="Cambria"/>
              </a:rPr>
              <a:t>Zu zweit gleichzeitig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400"/>
              </a:spcAft>
            </a:pPr>
            <a:r>
              <a:rPr sz="1450" b="0" i="0">
                <a:solidFill>
                  <a:srgbClr val="1A2230"/>
                </a:solidFill>
                <a:latin typeface="Calibri"/>
              </a:rPr>
              <a:t>Beide fotografieren parallel auf ihrem Handy. Der Vorarbeiter führt die Bilder am Ende zusammen – fortlaufend nummeriert, ohne Doppelte.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F4E78"/>
                </a:solidFill>
                <a:latin typeface="Cambria"/>
              </a:rPr>
              <a:t>An ein anderes Team übergeben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A2230"/>
                </a:solidFill>
                <a:latin typeface="Calibri"/>
              </a:rPr>
              <a:t>Den Stand als kleine Excel-Datei weitergeben. Das nächste Team sieht sofort, was erledigt ist; bereits gemachte Bilder sind als „Vorteam“ gekennzeichnet.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F4E78"/>
                </a:solidFill>
                <a:latin typeface="Cambria"/>
              </a:rPr>
              <a:t>Sicher &amp; günstig</a:t>
            </a:r>
          </a:p>
        </p:txBody>
      </p:sp>
      <p:pic>
        <p:nvPicPr>
          <p:cNvPr id="3" name="Picture 2" descr="ba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874519"/>
            <a:ext cx="4754880" cy="312821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554480"/>
            <a:ext cx="5760720" cy="47548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2E6BA8"/>
                </a:solidFill>
                <a:latin typeface="Calibri"/>
              </a:rPr>
              <a:t>•  </a:t>
            </a:r>
            <a:r>
              <a:rPr sz="1500" b="1">
                <a:solidFill>
                  <a:srgbClr val="1A2230"/>
                </a:solidFill>
                <a:latin typeface="Calibri"/>
              </a:rPr>
              <a:t>Backup-Funktion </a:t>
            </a:r>
            <a:r>
              <a:rPr sz="1500">
                <a:solidFill>
                  <a:srgbClr val="1A2230"/>
                </a:solidFill>
                <a:latin typeface="Calibri"/>
              </a:rPr>
              <a:t>erinnert ans Sichern und legt alle Bilder als ZIP in die Cloud.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2E6BA8"/>
                </a:solidFill>
                <a:latin typeface="Calibri"/>
              </a:rPr>
              <a:t>•  </a:t>
            </a:r>
            <a:r>
              <a:rPr sz="1500" b="1">
                <a:solidFill>
                  <a:srgbClr val="1A2230"/>
                </a:solidFill>
                <a:latin typeface="Calibri"/>
              </a:rPr>
              <a:t>Alles offline – </a:t>
            </a:r>
            <a:r>
              <a:rPr sz="1500">
                <a:solidFill>
                  <a:srgbClr val="1A2230"/>
                </a:solidFill>
                <a:latin typeface="Calibri"/>
              </a:rPr>
              <a:t>kein Server, keine Cloud-Pflicht, funktioniert ohne Empfang.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2E6BA8"/>
                </a:solidFill>
                <a:latin typeface="Calibri"/>
              </a:rPr>
              <a:t>•  </a:t>
            </a:r>
            <a:r>
              <a:rPr sz="1500" b="1">
                <a:solidFill>
                  <a:srgbClr val="1A2230"/>
                </a:solidFill>
                <a:latin typeface="Calibri"/>
              </a:rPr>
              <a:t>Keine laufenden Kosten – </a:t>
            </a:r>
            <a:r>
              <a:rPr sz="1500">
                <a:solidFill>
                  <a:srgbClr val="1A2230"/>
                </a:solidFill>
                <a:latin typeface="Calibri"/>
              </a:rPr>
              <a:t>keine Lizenzen, kein App-Store, keine Abo-Gebühren.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2E6BA8"/>
                </a:solidFill>
                <a:latin typeface="Calibri"/>
              </a:rPr>
              <a:t>•  </a:t>
            </a:r>
            <a:r>
              <a:rPr sz="1500" b="1">
                <a:solidFill>
                  <a:srgbClr val="1A2230"/>
                </a:solidFill>
                <a:latin typeface="Calibri"/>
              </a:rPr>
              <a:t>Kein IT-Aufwand – </a:t>
            </a:r>
            <a:r>
              <a:rPr sz="1500">
                <a:solidFill>
                  <a:srgbClr val="1A2230"/>
                </a:solidFill>
                <a:latin typeface="Calibri"/>
              </a:rPr>
              <a:t>läuft eigenständig, von einer Person pflegbar.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E6BA8"/>
                </a:solidFill>
                <a:latin typeface="Calibri"/>
              </a:rPr>
              <a:t>•  </a:t>
            </a:r>
            <a:r>
              <a:rPr sz="1500" b="1">
                <a:solidFill>
                  <a:srgbClr val="1A2230"/>
                </a:solidFill>
                <a:latin typeface="Calibri"/>
              </a:rPr>
              <a:t>Datensicher – </a:t>
            </a:r>
            <a:r>
              <a:rPr sz="1500">
                <a:solidFill>
                  <a:srgbClr val="1A2230"/>
                </a:solidFill>
                <a:latin typeface="Calibri"/>
              </a:rPr>
              <a:t>Bilder werden nie automatisch gelöscht oder überschrieben.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F4E78"/>
                </a:solidFill>
                <a:latin typeface="Cambria"/>
              </a:rPr>
              <a:t>Der Nutzen auf einen Blick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44855" y="2011680"/>
            <a:ext cx="2606040" cy="2743200"/>
          </a:xfrm>
          <a:prstGeom prst="roundRect">
            <a:avLst>
              <a:gd name="adj" fmla="val 6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447" y="2331720"/>
            <a:ext cx="2276856" cy="21945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spcBef>
                <a:spcPts val="0"/>
              </a:spcBef>
              <a:spcAft>
                <a:spcPts val="1200"/>
              </a:spcAft>
            </a:pPr>
            <a:r>
              <a:rPr sz="3400" b="1" i="0">
                <a:solidFill>
                  <a:srgbClr val="1F4E78"/>
                </a:solidFill>
                <a:latin typeface="Cambria"/>
              </a:rPr>
              <a:t>0 €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A2230"/>
                </a:solidFill>
                <a:latin typeface="Calibri"/>
              </a:rPr>
              <a:t>laufende Kosten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773"/>
                </a:solidFill>
                <a:latin typeface="Calibri"/>
              </a:rPr>
              <a:t>keine Lizenzen, kein App-Store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43503" y="2011680"/>
            <a:ext cx="2606040" cy="2743200"/>
          </a:xfrm>
          <a:prstGeom prst="roundRect">
            <a:avLst>
              <a:gd name="adj" fmla="val 6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508095" y="2331720"/>
            <a:ext cx="2276856" cy="21945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spcBef>
                <a:spcPts val="0"/>
              </a:spcBef>
              <a:spcAft>
                <a:spcPts val="1200"/>
              </a:spcAft>
            </a:pPr>
            <a:r>
              <a:rPr sz="3400" b="1" i="0">
                <a:solidFill>
                  <a:srgbClr val="1F4E78"/>
                </a:solidFill>
                <a:latin typeface="Cambria"/>
              </a:rPr>
              <a:t>100 %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A2230"/>
                </a:solidFill>
                <a:latin typeface="Calibri"/>
              </a:rPr>
              <a:t>offline einsatzbereit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773"/>
                </a:solidFill>
                <a:latin typeface="Calibri"/>
              </a:rPr>
              <a:t>auch ohne Empfang im Keller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2151" y="2011680"/>
            <a:ext cx="2606040" cy="2743200"/>
          </a:xfrm>
          <a:prstGeom prst="roundRect">
            <a:avLst>
              <a:gd name="adj" fmla="val 6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6743" y="2331720"/>
            <a:ext cx="2276856" cy="21945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spcBef>
                <a:spcPts val="0"/>
              </a:spcBef>
              <a:spcAft>
                <a:spcPts val="1200"/>
              </a:spcAft>
            </a:pPr>
            <a:r>
              <a:rPr sz="3000" b="1" i="0">
                <a:solidFill>
                  <a:srgbClr val="1F4E78"/>
                </a:solidFill>
                <a:latin typeface="Cambria"/>
              </a:rPr>
              <a:t>1 Gerät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A2230"/>
                </a:solidFill>
                <a:latin typeface="Calibri"/>
              </a:rPr>
              <a:t>= komplette NFK-Doku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773"/>
                </a:solidFill>
                <a:latin typeface="Calibri"/>
              </a:rPr>
              <a:t>pro Mitarbeiter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0799" y="2011680"/>
            <a:ext cx="2606040" cy="2743200"/>
          </a:xfrm>
          <a:prstGeom prst="roundRect">
            <a:avLst>
              <a:gd name="adj" fmla="val 6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05391" y="2331720"/>
            <a:ext cx="2276856" cy="21945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spcBef>
                <a:spcPts val="0"/>
              </a:spcBef>
              <a:spcAft>
                <a:spcPts val="1200"/>
              </a:spcAft>
            </a:pPr>
            <a:r>
              <a:rPr sz="2200" b="1" i="0">
                <a:solidFill>
                  <a:srgbClr val="1F4E78"/>
                </a:solidFill>
                <a:latin typeface="Cambria"/>
              </a:rPr>
              <a:t>kein Laptop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A2230"/>
                </a:solidFill>
                <a:latin typeface="Calibri"/>
              </a:rPr>
              <a:t>im Feld nötig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773"/>
                </a:solidFill>
                <a:latin typeface="Calibri"/>
              </a:rPr>
              <a:t>außer für die LAN-Messung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F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280160"/>
            <a:ext cx="10332720" cy="42976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600"/>
              </a:spcAft>
            </a:pPr>
            <a:r>
              <a:rPr sz="4800" b="1" i="0">
                <a:solidFill>
                  <a:srgbClr val="FFFFFF"/>
                </a:solidFill>
                <a:latin typeface="Cambria"/>
              </a:rPr>
              <a:t>Ein Handy genügt.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0" i="0">
                <a:solidFill>
                  <a:srgbClr val="CFE0F0"/>
                </a:solidFill>
                <a:latin typeface="Calibri"/>
              </a:rPr>
              <a:t>Jeder Techniker dokumentiert eine komplette NFK-Vollverkabelung vollständig vom Handy – Bilder und Bautagebuch, jeden Tag, direkt vor Ort.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E6BA8"/>
                </a:solidFill>
                <a:latin typeface="Calibri"/>
              </a:rPr>
              <a:t>Nur die LAN-Messung bleibt am Laptop.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